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f48303b1964b10" /><Relationship Type="http://schemas.openxmlformats.org/officeDocument/2006/relationships/extended-properties" Target="/docProps/app.xml" Id="R287e99d280594a83" /><Relationship Type="http://schemas.openxmlformats.org/officeDocument/2006/relationships/officeDocument" Target="/ppt/presentation.xml" Id="R8a832a2e2fb64d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044d6631ef4e3e"/>
  </p:sldMasterIdLst>
  <p:notesMasterIdLst>
    <p:notesMasterId xmlns:r="http://schemas.openxmlformats.org/officeDocument/2006/relationships" r:id="R9cfc48d6338d49f9"/>
  </p:notesMasterIdLst>
  <p:sldIdLst>
    <p:sldId xmlns:r="http://schemas.openxmlformats.org/officeDocument/2006/relationships" id="256" r:id="R554f524d7512441c"/>
    <p:sldId xmlns:r="http://schemas.openxmlformats.org/officeDocument/2006/relationships" id="257" r:id="R4dbcf16f5cdf4c9b"/>
    <p:sldId xmlns:r="http://schemas.openxmlformats.org/officeDocument/2006/relationships" id="258" r:id="R76f0966b9f6e4894"/>
    <p:sldId xmlns:r="http://schemas.openxmlformats.org/officeDocument/2006/relationships" id="259" r:id="R62c129dc0a62457e"/>
    <p:sldId xmlns:r="http://schemas.openxmlformats.org/officeDocument/2006/relationships" id="260" r:id="R72b6728b0b014c1c"/>
    <p:sldId xmlns:r="http://schemas.openxmlformats.org/officeDocument/2006/relationships" id="261" r:id="R9bc85bf9cab6408e"/>
    <p:sldId xmlns:r="http://schemas.openxmlformats.org/officeDocument/2006/relationships" id="262" r:id="R20203d5d95de424b"/>
    <p:sldId xmlns:r="http://schemas.openxmlformats.org/officeDocument/2006/relationships" id="263" r:id="Rf1d7e655ea7842d4"/>
    <p:sldId xmlns:r="http://schemas.openxmlformats.org/officeDocument/2006/relationships" id="264" r:id="R05dca8a6766d4f86"/>
    <p:sldId xmlns:r="http://schemas.openxmlformats.org/officeDocument/2006/relationships" id="265" r:id="Rc8fa3fff2ef14d48"/>
    <p:sldId xmlns:r="http://schemas.openxmlformats.org/officeDocument/2006/relationships" id="266" r:id="R948857a742d94343"/>
    <p:sldId xmlns:r="http://schemas.openxmlformats.org/officeDocument/2006/relationships" id="267" r:id="R5c188adc627642a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f128d0513f4244" /><Relationship Type="http://schemas.openxmlformats.org/officeDocument/2006/relationships/slideMaster" Target="/ppt/slideMasters/slideMaster1.xml" Id="R44044d6631ef4e3e" /><Relationship Type="http://schemas.openxmlformats.org/officeDocument/2006/relationships/notesMaster" Target="/ppt/notesMasters/notesMaster1.xml" Id="R9cfc48d6338d49f9" /><Relationship Type="http://schemas.openxmlformats.org/officeDocument/2006/relationships/presProps" Target="/ppt/presProps.xml" Id="Re9c97cfb5d764e67" /><Relationship Type="http://schemas.openxmlformats.org/officeDocument/2006/relationships/tableStyles" Target="/ppt/tableStyles.xml" Id="R65816e910e1d4d52" /><Relationship Type="http://schemas.openxmlformats.org/officeDocument/2006/relationships/slide" Target="/ppt/slides/slide1.xml" Id="R554f524d7512441c" /><Relationship Type="http://schemas.openxmlformats.org/officeDocument/2006/relationships/slide" Target="/ppt/slides/slide2.xml" Id="R4dbcf16f5cdf4c9b" /><Relationship Type="http://schemas.openxmlformats.org/officeDocument/2006/relationships/slide" Target="/ppt/slides/slide3.xml" Id="R76f0966b9f6e4894" /><Relationship Type="http://schemas.openxmlformats.org/officeDocument/2006/relationships/slide" Target="/ppt/slides/slide4.xml" Id="R62c129dc0a62457e" /><Relationship Type="http://schemas.openxmlformats.org/officeDocument/2006/relationships/slide" Target="/ppt/slides/slide5.xml" Id="R72b6728b0b014c1c" /><Relationship Type="http://schemas.openxmlformats.org/officeDocument/2006/relationships/slide" Target="/ppt/slides/slide6.xml" Id="R9bc85bf9cab6408e" /><Relationship Type="http://schemas.openxmlformats.org/officeDocument/2006/relationships/slide" Target="/ppt/slides/slide7.xml" Id="R20203d5d95de424b" /><Relationship Type="http://schemas.openxmlformats.org/officeDocument/2006/relationships/slide" Target="/ppt/slides/slide8.xml" Id="Rf1d7e655ea7842d4" /><Relationship Type="http://schemas.openxmlformats.org/officeDocument/2006/relationships/slide" Target="/ppt/slides/slide9.xml" Id="R05dca8a6766d4f86" /><Relationship Type="http://schemas.openxmlformats.org/officeDocument/2006/relationships/slide" Target="/ppt/slides/slide10.xml" Id="Rc8fa3fff2ef14d48" /><Relationship Type="http://schemas.openxmlformats.org/officeDocument/2006/relationships/slide" Target="/ppt/slides/slide11.xml" Id="R948857a742d94343" /><Relationship Type="http://schemas.openxmlformats.org/officeDocument/2006/relationships/slide" Target="/ppt/slides/slide12.xml" Id="R5c188adc627642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0b69beee9343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861020821e462c" /><Relationship Type="http://schemas.openxmlformats.org/officeDocument/2006/relationships/notesMaster" Target="/ppt/notesMasters/notesMaster1.xml" Id="Rd324b9bfc53b41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288fab3bd64f08" /><Relationship Type="http://schemas.openxmlformats.org/officeDocument/2006/relationships/notesMaster" Target="/ppt/notesMasters/notesMaster1.xml" Id="R1c321b28f71c45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fa9df1e9124840" /><Relationship Type="http://schemas.openxmlformats.org/officeDocument/2006/relationships/notesMaster" Target="/ppt/notesMasters/notesMaster1.xml" Id="R64d2586fc7de49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ff5a72b0b24bb6" /><Relationship Type="http://schemas.openxmlformats.org/officeDocument/2006/relationships/notesMaster" Target="/ppt/notesMasters/notesMaster1.xml" Id="R1ddcef454a4e44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d06221ffc14d78" /><Relationship Type="http://schemas.openxmlformats.org/officeDocument/2006/relationships/notesMaster" Target="/ppt/notesMasters/notesMaster1.xml" Id="R0b4455b3ba724e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309d8c47674c1a" /><Relationship Type="http://schemas.openxmlformats.org/officeDocument/2006/relationships/notesMaster" Target="/ppt/notesMasters/notesMaster1.xml" Id="R05e53fa2629e41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b8b6c56d204bc5" /><Relationship Type="http://schemas.openxmlformats.org/officeDocument/2006/relationships/notesMaster" Target="/ppt/notesMasters/notesMaster1.xml" Id="R8533b1a1b2e74b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59ec6640057420e" /><Relationship Type="http://schemas.openxmlformats.org/officeDocument/2006/relationships/notesMaster" Target="/ppt/notesMasters/notesMaster1.xml" Id="Ra4cecf4aded743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9de5da34164a4d" /><Relationship Type="http://schemas.openxmlformats.org/officeDocument/2006/relationships/notesMaster" Target="/ppt/notesMasters/notesMaster1.xml" Id="R43f69015d6e44f2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35dd8cee2e49cf" /><Relationship Type="http://schemas.openxmlformats.org/officeDocument/2006/relationships/notesMaster" Target="/ppt/notesMasters/notesMaster1.xml" Id="Rb30857fea20c447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88cdd64e3854027" /><Relationship Type="http://schemas.openxmlformats.org/officeDocument/2006/relationships/notesMaster" Target="/ppt/notesMasters/notesMaster1.xml" Id="R9da725308ef945a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222fed416ff48be" /><Relationship Type="http://schemas.openxmlformats.org/officeDocument/2006/relationships/notesMaster" Target="/ppt/notesMasters/notesMaster1.xml" Id="Rb9d5802815ca44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74fbd194044a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fab9d7b35c409c" /><Relationship Type="http://schemas.openxmlformats.org/officeDocument/2006/relationships/slideLayout" Target="/ppt/slideLayouts/slideLayout1.xml" Id="R19e24021a5d644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e24021a5d644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7a17579bbd402e" /><Relationship Type="http://schemas.openxmlformats.org/officeDocument/2006/relationships/notesSlide" Target="/ppt/notesSlides/notesSlide1.xml" Id="R58741b288bc84a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7303a89c22480d" /><Relationship Type="http://schemas.openxmlformats.org/officeDocument/2006/relationships/notesSlide" Target="/ppt/notesSlides/notesSlide2.xml" Id="R19eb5cac2ccb41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ffcca60c9d4535" /><Relationship Type="http://schemas.openxmlformats.org/officeDocument/2006/relationships/notesSlide" Target="/ppt/notesSlides/notesSlide3.xml" Id="R99db823c123a4d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004728c1c141a8" /><Relationship Type="http://schemas.openxmlformats.org/officeDocument/2006/relationships/notesSlide" Target="/ppt/notesSlides/notesSlide4.xml" Id="Ra2446b4e7d134c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9c0cd73296481e" /><Relationship Type="http://schemas.openxmlformats.org/officeDocument/2006/relationships/notesSlide" Target="/ppt/notesSlides/notesSlide5.xml" Id="R65346614158348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f2a9af9484579" /><Relationship Type="http://schemas.openxmlformats.org/officeDocument/2006/relationships/notesSlide" Target="/ppt/notesSlides/notesSlide6.xml" Id="R460bf952294543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f1ffabc32e450c" /><Relationship Type="http://schemas.openxmlformats.org/officeDocument/2006/relationships/image" Target="/ppt/media/image.png" Id="R98931ccff2194011" /><Relationship Type="http://schemas.openxmlformats.org/officeDocument/2006/relationships/notesSlide" Target="/ppt/notesSlides/notesSlide7.xml" Id="R3bd753e0989b47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71678e811d4500" /><Relationship Type="http://schemas.openxmlformats.org/officeDocument/2006/relationships/image" Target="/ppt/media/image2.png" Id="Ra4504ff18d6a4fe4" /><Relationship Type="http://schemas.openxmlformats.org/officeDocument/2006/relationships/notesSlide" Target="/ppt/notesSlides/notesSlide8.xml" Id="Ree4159a516664d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0fa1cb1744449a" /><Relationship Type="http://schemas.openxmlformats.org/officeDocument/2006/relationships/image" Target="/ppt/media/image3.png" Id="Rd072d5d4826f43d0" /><Relationship Type="http://schemas.openxmlformats.org/officeDocument/2006/relationships/notesSlide" Target="/ppt/notesSlides/notesSlide9.xml" Id="R54920a3fc18749b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df39895c24388" /><Relationship Type="http://schemas.openxmlformats.org/officeDocument/2006/relationships/image" Target="/ppt/media/image4.png" Id="Rdba1f46e5a1e4f87" /><Relationship Type="http://schemas.openxmlformats.org/officeDocument/2006/relationships/notesSlide" Target="/ppt/notesSlides/notesSlide10.xml" Id="R6143e91b6aa340e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64bd5b27f4aec" /><Relationship Type="http://schemas.openxmlformats.org/officeDocument/2006/relationships/notesSlide" Target="/ppt/notesSlides/notesSlide11.xml" Id="R1ac898e253a5414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ed164cd731472b" /><Relationship Type="http://schemas.openxmlformats.org/officeDocument/2006/relationships/notesSlide" Target="/ppt/notesSlides/notesSlide12.xml" Id="Ra05e7914431e4a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C3065BAE-A60B-43B8-AE9E-2EE990BB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590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867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6753"/>
                </a:solidFill>
                <a:latin typeface="Helvetica Neue"/>
                <a:ea typeface="Helvetica Neue"/>
                <a:cs typeface="Helvetica Neue"/>
              </a:rPr>
              <a:t>PROYECTO DESPLEGADO · 2026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441483E-CA6F-4881-8193-1A8C7689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80962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5850">
                <a:solidFill>
                  <a:srgbClr val="101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1">
                <a:solidFill>
                  <a:srgbClr val="101B20"/>
                </a:solidFill>
                <a:latin typeface="Helvetica Neue"/>
                <a:ea typeface="Helvetica Neue"/>
                <a:cs typeface="Helvetica Neue"/>
              </a:rPr>
              <a:t>ResearchFlow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80DBA00-50AE-48EB-A7FB-F3487DC7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895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55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rPr>
              <a:t>Investigación automatizada, verificable y lista para demostrar</a:t>
            </a:r>
          </a:p>
        </p:txBody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C68C710F-00F1-4141-9E65-8C805874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D66F"/>
          </a:solidFill>
        </p:spPr>
      </p:sp>
      <p:sp>
        <p:nvSpPr>
          <p:cNvPr id="5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F197DBA2-7731-4088-AB83-C0BC2B4B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61912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800">
                <a:solidFill>
                  <a:srgbClr val="101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01B20"/>
                </a:solidFill>
                <a:latin typeface="Helvetica Neue"/>
                <a:ea typeface="Helvetica Neue"/>
                <a:cs typeface="Helvetica Neue"/>
              </a:rPr>
              <a:t>Daniel Cueto Torrico
DigitalOcean · n8n · Gemini · PostgreSQL</a:t>
            </a:r>
          </a:p>
        </p:txBody>
      </p:sp>
    </p:spTree>
    <p:extLst>
      <p:ext uri="{BB962C8B-B14F-4D97-AF65-F5344CB8AC3E}">
        <p14:creationId xmlns:p14="http://schemas.microsoft.com/office/powerpoint/2010/main" val="20707641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C233777-DD37-4BFB-9DAA-86800581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0"/>
              </a:spcAft>
              <a:buNone/>
              <a:defRPr sz="3600">
                <a:solidFill>
                  <a:srgbClr val="101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1B20"/>
                </a:solidFill>
                <a:latin typeface="Helvetica Neue"/>
                <a:ea typeface="Helvetica Neue"/>
                <a:cs typeface="Helvetica Neue"/>
              </a:rPr>
              <a:t>Investigar no debería ser un rompecabezas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8940A7-0C49-4387-B0BB-CE419C90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80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rPr>
              <a:t>La dificultad no está solo en buscar: está en conservar contexto, fuentes y criterio durante todo el proceso.</a:t>
            </a:r>
          </a:p>
        </p:txBody>
      </p:sp>
      <p:sp>
        <p:nvSpPr>
          <p:cNvPr id="3" name="problem-label-0">
            <a:extLst xmlns:a="http://schemas.openxmlformats.org/drawingml/2006/main">
              <a:ext uri="{FF2B5EF4-FFF2-40B4-BE49-F238E27FC236}">
                <a16:creationId xmlns:a16="http://schemas.microsoft.com/office/drawing/2014/main" id="{B0518216-768C-41A8-9B52-D58D3F3C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495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867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6753"/>
                </a:solidFill>
                <a:latin typeface="Helvetica Neue"/>
                <a:ea typeface="Helvetica Neue"/>
                <a:cs typeface="Helvetica Neue"/>
              </a:rPr>
              <a:t>IDEAS VAGAS</a:t>
            </a:r>
          </a:p>
        </p:txBody>
      </p:sp>
      <p:sp>
        <p:nvSpPr>
          <p:cNvPr id="4" name="problem-body-0">
            <a:extLst xmlns:a="http://schemas.openxmlformats.org/drawingml/2006/main">
              <a:ext uri="{FF2B5EF4-FFF2-40B4-BE49-F238E27FC236}">
                <a16:creationId xmlns:a16="http://schemas.microsoft.com/office/drawing/2014/main" id="{E5F1FB70-9C40-4C63-A519-A344EC1F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9850"/>
            <a:ext cx="49530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100">
                <a:solidFill>
                  <a:srgbClr val="101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01B20"/>
                </a:solidFill>
                <a:latin typeface="Helvetica Neue"/>
                <a:ea typeface="Helvetica Neue"/>
                <a:cs typeface="Helvetica Neue"/>
              </a:rPr>
              <a:t>Una intuición todavía no es una pregunta investigable.</a:t>
            </a:r>
          </a:p>
        </p:txBody>
      </p:sp>
      <p:sp>
        <p:nvSpPr>
          <p:cNvPr id="5" name="problem-label-1">
            <a:extLst xmlns:a="http://schemas.openxmlformats.org/drawingml/2006/main">
              <a:ext uri="{FF2B5EF4-FFF2-40B4-BE49-F238E27FC236}">
                <a16:creationId xmlns:a16="http://schemas.microsoft.com/office/drawing/2014/main" id="{3EFAAD88-EB09-426E-B689-88A2D8B6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33600"/>
            <a:ext cx="495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867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6753"/>
                </a:solidFill>
                <a:latin typeface="Helvetica Neue"/>
                <a:ea typeface="Helvetica Neue"/>
                <a:cs typeface="Helvetica Neue"/>
              </a:rPr>
              <a:t>FUENTES DISPERSAS</a:t>
            </a:r>
          </a:p>
        </p:txBody>
      </p:sp>
      <p:sp>
        <p:nvSpPr>
          <p:cNvPr id="6" name="problem-body-1">
            <a:extLst xmlns:a="http://schemas.openxmlformats.org/drawingml/2006/main">
              <a:ext uri="{FF2B5EF4-FFF2-40B4-BE49-F238E27FC236}">
                <a16:creationId xmlns:a16="http://schemas.microsoft.com/office/drawing/2014/main" id="{D77E3774-506D-4D02-AA4A-0C8D127D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09850"/>
            <a:ext cx="49530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100">
                <a:solidFill>
                  <a:srgbClr val="101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01B20"/>
                </a:solidFill>
                <a:latin typeface="Helvetica Neue"/>
                <a:ea typeface="Helvetica Neue"/>
                <a:cs typeface="Helvetica Neue"/>
              </a:rPr>
              <a:t>La evidencia queda repartida entre pestañas, notas y correos.</a:t>
            </a:r>
          </a:p>
        </p:txBody>
      </p:sp>
      <p:sp>
        <p:nvSpPr>
          <p:cNvPr id="7" name="problem-label-2">
            <a:extLst xmlns:a="http://schemas.openxmlformats.org/drawingml/2006/main">
              <a:ext uri="{FF2B5EF4-FFF2-40B4-BE49-F238E27FC236}">
                <a16:creationId xmlns:a16="http://schemas.microsoft.com/office/drawing/2014/main" id="{F90A79F7-1897-40C8-BC93-601774F1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495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867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6753"/>
                </a:solidFill>
                <a:latin typeface="Helvetica Neue"/>
                <a:ea typeface="Helvetica Neue"/>
                <a:cs typeface="Helvetica Neue"/>
              </a:rPr>
              <a:t>IA SIN CONTROL</a:t>
            </a:r>
          </a:p>
        </p:txBody>
      </p:sp>
      <p:sp>
        <p:nvSpPr>
          <p:cNvPr id="8" name="problem-body-2">
            <a:extLst xmlns:a="http://schemas.openxmlformats.org/drawingml/2006/main">
              <a:ext uri="{FF2B5EF4-FFF2-40B4-BE49-F238E27FC236}">
                <a16:creationId xmlns:a16="http://schemas.microsoft.com/office/drawing/2014/main" id="{C7948B29-FEB1-403F-9C24-F333C86F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0"/>
            <a:ext cx="49530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100">
                <a:solidFill>
                  <a:srgbClr val="101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01B20"/>
                </a:solidFill>
                <a:latin typeface="Helvetica Neue"/>
                <a:ea typeface="Helvetica Neue"/>
                <a:cs typeface="Helvetica Neue"/>
              </a:rPr>
              <a:t>Una respuesta convincente puede contener cifras o fuentes incorrectas.</a:t>
            </a:r>
          </a:p>
        </p:txBody>
      </p:sp>
      <p:sp>
        <p:nvSpPr>
          <p:cNvPr id="9" name="problem-label-3">
            <a:extLst xmlns:a="http://schemas.openxmlformats.org/drawingml/2006/main">
              <a:ext uri="{FF2B5EF4-FFF2-40B4-BE49-F238E27FC236}">
                <a16:creationId xmlns:a16="http://schemas.microsoft.com/office/drawing/2014/main" id="{0DAEDC6F-B518-438F-BA25-1C819BD8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95750"/>
            <a:ext cx="495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867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6753"/>
                </a:solidFill>
                <a:latin typeface="Helvetica Neue"/>
                <a:ea typeface="Helvetica Neue"/>
                <a:cs typeface="Helvetica Neue"/>
              </a:rPr>
              <a:t>ENTREGA SIN TRAZA</a:t>
            </a:r>
          </a:p>
        </p:txBody>
      </p:sp>
      <p:sp>
        <p:nvSpPr>
          <p:cNvPr id="10" name="problem-body-3">
            <a:extLst xmlns:a="http://schemas.openxmlformats.org/drawingml/2006/main">
              <a:ext uri="{FF2B5EF4-FFF2-40B4-BE49-F238E27FC236}">
                <a16:creationId xmlns:a16="http://schemas.microsoft.com/office/drawing/2014/main" id="{8B6E49C8-BBF2-4C58-A174-318A7916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9530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100">
                <a:solidFill>
                  <a:srgbClr val="101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01B20"/>
                </a:solidFill>
                <a:latin typeface="Helvetica Neue"/>
                <a:ea typeface="Helvetica Neue"/>
                <a:cs typeface="Helvetica Neue"/>
              </a:rPr>
              <a:t>El resultado final rara vez explica qué fue verificado y qué no.</a:t>
            </a:r>
          </a:p>
        </p:txBody>
      </p:sp>
      <p:cxnSp>
        <p:nvCxnSpPr>
          <p:cNvPr id="24" name="footer-rule-2"/>
          <p:cNvCxnSpPr/>
          <p:nvPr/>
        </p:nvCxnSpPr>
        <p:spPr>
          <a:xfrm xmlns:a="http://schemas.openxmlformats.org/drawingml/2006/main">
            <a:off x="400050" y="62865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0BD"/>
            </a:solidFill>
            <a:prstDash val="solid"/>
          </a:ln>
        </p:spPr>
      </p:cxnSp>
      <p:sp>
        <p:nvSpPr>
          <p:cNvPr id="12" name="footer-source-2">
            <a:extLst xmlns:a="http://schemas.openxmlformats.org/drawingml/2006/main">
              <a:ext uri="{FF2B5EF4-FFF2-40B4-BE49-F238E27FC236}">
                <a16:creationId xmlns:a16="http://schemas.microsoft.com/office/drawing/2014/main" id="{9DD44033-63C1-44CD-887A-F9709EAE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90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rPr>
              <a:t>ResearchFlow · Daniel Cueto Torrico</a:t>
            </a:r>
          </a:p>
        </p:txBody>
      </p:sp>
      <p:sp>
        <p:nvSpPr>
          <p:cNvPr id="13" name="footer-number-2">
            <a:extLst xmlns:a="http://schemas.openxmlformats.org/drawingml/2006/main">
              <a:ext uri="{FF2B5EF4-FFF2-40B4-BE49-F238E27FC236}">
                <a16:creationId xmlns:a16="http://schemas.microsoft.com/office/drawing/2014/main" id="{28A2AC28-5DB5-4B63-8FA5-08686EF7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Aft>
                <a:spcPts val="0"/>
              </a:spcAft>
              <a:buNone/>
              <a:defRPr sz="105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657277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28BD55-854D-4800-AB44-3553AE68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0"/>
              </a:spcAft>
              <a:buNone/>
              <a:defRPr sz="3600">
                <a:solidFill>
                  <a:srgbClr val="101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1B20"/>
                </a:solidFill>
                <a:latin typeface="Helvetica Neue"/>
                <a:ea typeface="Helvetica Neue"/>
                <a:cs typeface="Helvetica Neue"/>
              </a:rPr>
              <a:t>Una idea entra; evidencia trazable sale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A9642B-2297-4314-99A7-75074B63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80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rPr>
              <a:t>ResearchFlow concentra el trabajo intelectual y operativo en una sola secuencia observable.</a:t>
            </a:r>
          </a:p>
        </p:txBody>
      </p:sp>
      <p:sp>
        <p:nvSpPr>
          <p:cNvPr id="3" name="solution-number-0">
            <a:extLst xmlns:a="http://schemas.openxmlformats.org/drawingml/2006/main">
              <a:ext uri="{FF2B5EF4-FFF2-40B4-BE49-F238E27FC236}">
                <a16:creationId xmlns:a16="http://schemas.microsoft.com/office/drawing/2014/main" id="{13342B31-BD1D-475B-9890-6A00D240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1143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4050">
                <a:solidFill>
                  <a:srgbClr val="1DD6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DD66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solution-label-0">
            <a:extLst xmlns:a="http://schemas.openxmlformats.org/drawingml/2006/main">
              <a:ext uri="{FF2B5EF4-FFF2-40B4-BE49-F238E27FC236}">
                <a16:creationId xmlns:a16="http://schemas.microsoft.com/office/drawing/2014/main" id="{28DD7A0D-57D7-4712-A5EC-C7B482A3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71850"/>
            <a:ext cx="3143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50">
                <a:solidFill>
                  <a:srgbClr val="101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B20"/>
                </a:solidFill>
                <a:latin typeface="Helvetica Neue"/>
                <a:ea typeface="Helvetica Neue"/>
                <a:cs typeface="Helvetica Neue"/>
              </a:rPr>
              <a:t>CAPTURA</a:t>
            </a:r>
          </a:p>
        </p:txBody>
      </p:sp>
      <p:sp>
        <p:nvSpPr>
          <p:cNvPr id="5" name="solution-body-0">
            <a:extLst xmlns:a="http://schemas.openxmlformats.org/drawingml/2006/main">
              <a:ext uri="{FF2B5EF4-FFF2-40B4-BE49-F238E27FC236}">
                <a16:creationId xmlns:a16="http://schemas.microsoft.com/office/drawing/2014/main" id="{18C722D6-68CD-46BD-8B26-B054D274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314325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025">
                <a:solidFill>
                  <a:srgbClr val="516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rPr>
              <a:t>Convierte una idea libre en tema y preguntas concretas.</a:t>
            </a:r>
          </a:p>
        </p:txBody>
      </p:sp>
      <p:sp>
        <p:nvSpPr>
          <p:cNvPr id="6" name="solution-number-1">
            <a:extLst xmlns:a="http://schemas.openxmlformats.org/drawingml/2006/main">
              <a:ext uri="{FF2B5EF4-FFF2-40B4-BE49-F238E27FC236}">
                <a16:creationId xmlns:a16="http://schemas.microsoft.com/office/drawing/2014/main" id="{5973C394-E570-40B2-B148-1814183A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81250"/>
            <a:ext cx="1143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4050">
                <a:solidFill>
                  <a:srgbClr val="1DD6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DD66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solution-label-1">
            <a:extLst xmlns:a="http://schemas.openxmlformats.org/drawingml/2006/main">
              <a:ext uri="{FF2B5EF4-FFF2-40B4-BE49-F238E27FC236}">
                <a16:creationId xmlns:a16="http://schemas.microsoft.com/office/drawing/2014/main" id="{968675D9-8503-4B4B-9D54-8D18A706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71850"/>
            <a:ext cx="3143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50">
                <a:solidFill>
                  <a:srgbClr val="101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B20"/>
                </a:solidFill>
                <a:latin typeface="Helvetica Neue"/>
                <a:ea typeface="Helvetica Neue"/>
                <a:cs typeface="Helvetica Neue"/>
              </a:rPr>
              <a:t>INVESTIGA</a:t>
            </a:r>
          </a:p>
        </p:txBody>
      </p:sp>
      <p:sp>
        <p:nvSpPr>
          <p:cNvPr id="8" name="solution-body-1">
            <a:extLst xmlns:a="http://schemas.openxmlformats.org/drawingml/2006/main">
              <a:ext uri="{FF2B5EF4-FFF2-40B4-BE49-F238E27FC236}">
                <a16:creationId xmlns:a16="http://schemas.microsoft.com/office/drawing/2014/main" id="{24B62042-4FB9-47C7-8481-CB7DA842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43350"/>
            <a:ext cx="314325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025">
                <a:solidFill>
                  <a:srgbClr val="516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rPr>
              <a:t>Gemini profundiza con búsqueda web y un playbook explícito.</a:t>
            </a:r>
          </a:p>
        </p:txBody>
      </p:sp>
      <p:sp>
        <p:nvSpPr>
          <p:cNvPr id="9" name="solution-number-2">
            <a:extLst xmlns:a="http://schemas.openxmlformats.org/drawingml/2006/main">
              <a:ext uri="{FF2B5EF4-FFF2-40B4-BE49-F238E27FC236}">
                <a16:creationId xmlns:a16="http://schemas.microsoft.com/office/drawing/2014/main" id="{69693A84-54B5-413F-B6C0-52F76A5A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81250"/>
            <a:ext cx="1143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4050">
                <a:solidFill>
                  <a:srgbClr val="1DD6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DD66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0" name="solution-label-2">
            <a:extLst xmlns:a="http://schemas.openxmlformats.org/drawingml/2006/main">
              <a:ext uri="{FF2B5EF4-FFF2-40B4-BE49-F238E27FC236}">
                <a16:creationId xmlns:a16="http://schemas.microsoft.com/office/drawing/2014/main" id="{DCD9E4E7-1852-4EFB-BDC2-7C7AFE99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71850"/>
            <a:ext cx="3143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50">
                <a:solidFill>
                  <a:srgbClr val="101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B20"/>
                </a:solidFill>
                <a:latin typeface="Helvetica Neue"/>
                <a:ea typeface="Helvetica Neue"/>
                <a:cs typeface="Helvetica Neue"/>
              </a:rPr>
              <a:t>VERIFICA</a:t>
            </a:r>
          </a:p>
        </p:txBody>
      </p:sp>
      <p:sp>
        <p:nvSpPr>
          <p:cNvPr id="11" name="solution-body-2">
            <a:extLst xmlns:a="http://schemas.openxmlformats.org/drawingml/2006/main">
              <a:ext uri="{FF2B5EF4-FFF2-40B4-BE49-F238E27FC236}">
                <a16:creationId xmlns:a16="http://schemas.microsoft.com/office/drawing/2014/main" id="{0D1CFB64-0FB8-401A-B68A-2D47D0B3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43350"/>
            <a:ext cx="314325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025">
                <a:solidFill>
                  <a:srgbClr val="516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rPr>
              <a:t>Un auditor adversarial decide qué hechos y datos pueden publicarse.</a:t>
            </a:r>
          </a:p>
        </p:txBody>
      </p:sp>
      <p:cxnSp>
        <p:nvCxnSpPr>
          <p:cNvPr id="26" name="footer-rule-3"/>
          <p:cNvCxnSpPr/>
          <p:nvPr/>
        </p:nvCxnSpPr>
        <p:spPr>
          <a:xfrm xmlns:a="http://schemas.openxmlformats.org/drawingml/2006/main">
            <a:off x="400050" y="62865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0BD"/>
            </a:solidFill>
            <a:prstDash val="solid"/>
          </a:ln>
        </p:spPr>
      </p:cxnSp>
      <p:sp>
        <p:nvSpPr>
          <p:cNvPr id="13" name="footer-source-3">
            <a:extLst xmlns:a="http://schemas.openxmlformats.org/drawingml/2006/main">
              <a:ext uri="{FF2B5EF4-FFF2-40B4-BE49-F238E27FC236}">
                <a16:creationId xmlns:a16="http://schemas.microsoft.com/office/drawing/2014/main" id="{DA4DC6FE-DA11-4C51-9AEE-BD2DC29C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90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rPr>
              <a:t>ResearchFlow · Daniel Cueto Torrico</a:t>
            </a:r>
          </a:p>
        </p:txBody>
      </p:sp>
      <p:sp>
        <p:nvSpPr>
          <p:cNvPr id="14" name="footer-number-3">
            <a:extLst xmlns:a="http://schemas.openxmlformats.org/drawingml/2006/main">
              <a:ext uri="{FF2B5EF4-FFF2-40B4-BE49-F238E27FC236}">
                <a16:creationId xmlns:a16="http://schemas.microsoft.com/office/drawing/2014/main" id="{0CF03373-D119-4850-A2F4-08B35B93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Aft>
                <a:spcPts val="0"/>
              </a:spcAft>
              <a:buNone/>
              <a:defRPr sz="105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256959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9A933B-6770-497E-A3BD-1A9FDA1C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0"/>
              </a:spcAft>
              <a:buNone/>
              <a:defRPr sz="3600">
                <a:solidFill>
                  <a:srgbClr val="101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1B20"/>
                </a:solidFill>
                <a:latin typeface="Helvetica Neue"/>
                <a:ea typeface="Helvetica Neue"/>
                <a:cs typeface="Helvetica Neue"/>
              </a:rPr>
              <a:t>El usuario solo necesita conversar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991852-524C-4FD2-990F-F6F1FB73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80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rPr>
              <a:t>Tres momentos resumen toda la experiencia; la complejidad queda detrás del chat.</a:t>
            </a:r>
          </a:p>
        </p:txBody>
      </p:sp>
      <p:cxnSp>
        <p:nvCxnSpPr>
          <p:cNvPr id="21" name="journey-line"/>
          <p:cNvCxnSpPr/>
          <p:nvPr/>
        </p:nvCxnSpPr>
        <p:spPr>
          <a:xfrm xmlns:a="http://schemas.openxmlformats.org/drawingml/2006/main">
            <a:off x="704850" y="3238500"/>
            <a:ext cx="102870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B20"/>
            </a:solidFill>
            <a:prstDash val="solid"/>
          </a:ln>
        </p:spPr>
      </p:cxnSp>
      <p:sp>
        <p:nvSpPr>
          <p:cNvPr id="4" name="journey-dot-0">
            <a:extLst xmlns:a="http://schemas.openxmlformats.org/drawingml/2006/main">
              <a:ext uri="{FF2B5EF4-FFF2-40B4-BE49-F238E27FC236}">
                <a16:creationId xmlns:a16="http://schemas.microsoft.com/office/drawing/2014/main" id="{2B742040-C9E9-4487-B428-9C9F93C6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337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B20"/>
          </a:solidFill>
        </p:spPr>
      </p:sp>
      <p:sp>
        <p:nvSpPr>
          <p:cNvPr id="5" name="journey-label-0">
            <a:extLst xmlns:a="http://schemas.openxmlformats.org/drawingml/2006/main">
              <a:ext uri="{FF2B5EF4-FFF2-40B4-BE49-F238E27FC236}">
                <a16:creationId xmlns:a16="http://schemas.microsoft.com/office/drawing/2014/main" id="{80250A15-0532-48CF-8507-65EF2FDB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266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867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6753"/>
                </a:solidFill>
                <a:latin typeface="Helvetica Neue"/>
                <a:ea typeface="Helvetica Neue"/>
                <a:cs typeface="Helvetica Neue"/>
              </a:rPr>
              <a:t>IDEA</a:t>
            </a:r>
          </a:p>
        </p:txBody>
      </p:sp>
      <p:sp>
        <p:nvSpPr>
          <p:cNvPr id="6" name="journey-example-0">
            <a:extLst xmlns:a="http://schemas.openxmlformats.org/drawingml/2006/main">
              <a:ext uri="{FF2B5EF4-FFF2-40B4-BE49-F238E27FC236}">
                <a16:creationId xmlns:a16="http://schemas.microsoft.com/office/drawing/2014/main" id="{94879D95-E496-4196-928A-89B01AF1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2857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250">
                <a:solidFill>
                  <a:srgbClr val="101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1B20"/>
                </a:solidFill>
                <a:latin typeface="Helvetica Neue"/>
                <a:ea typeface="Helvetica Neue"/>
                <a:cs typeface="Helvetica Neue"/>
              </a:rPr>
              <a:t>“Quiero entender…”</a:t>
            </a:r>
          </a:p>
        </p:txBody>
      </p:sp>
      <p:sp>
        <p:nvSpPr>
          <p:cNvPr id="7" name="journey-body-0">
            <a:extLst xmlns:a="http://schemas.openxmlformats.org/drawingml/2006/main">
              <a:ext uri="{FF2B5EF4-FFF2-40B4-BE49-F238E27FC236}">
                <a16:creationId xmlns:a16="http://schemas.microsoft.com/office/drawing/2014/main" id="{417A6C9D-B9E3-465D-9F9B-C48827FF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24350"/>
            <a:ext cx="28575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80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rPr>
              <a:t>El sistema refina el tema y propone preguntas.</a:t>
            </a:r>
          </a:p>
        </p:txBody>
      </p:sp>
      <p:sp>
        <p:nvSpPr>
          <p:cNvPr id="8" name="journey-dot-1">
            <a:extLst xmlns:a="http://schemas.openxmlformats.org/drawingml/2006/main">
              <a:ext uri="{FF2B5EF4-FFF2-40B4-BE49-F238E27FC236}">
                <a16:creationId xmlns:a16="http://schemas.microsoft.com/office/drawing/2014/main" id="{A3E32832-AC80-4FAA-878E-69EA1A85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337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D66F"/>
          </a:solidFill>
        </p:spPr>
      </p:sp>
      <p:sp>
        <p:nvSpPr>
          <p:cNvPr id="9" name="journey-label-1">
            <a:extLst xmlns:a="http://schemas.openxmlformats.org/drawingml/2006/main">
              <a:ext uri="{FF2B5EF4-FFF2-40B4-BE49-F238E27FC236}">
                <a16:creationId xmlns:a16="http://schemas.microsoft.com/office/drawing/2014/main" id="{C16D4079-7E75-41F3-BE48-BE151079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52700"/>
            <a:ext cx="266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867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6753"/>
                </a:solidFill>
                <a:latin typeface="Helvetica Neue"/>
                <a:ea typeface="Helvetica Neue"/>
                <a:cs typeface="Helvetica Neue"/>
              </a:rPr>
              <a:t>INVESTIGACIÓN</a:t>
            </a:r>
          </a:p>
        </p:txBody>
      </p:sp>
      <p:sp>
        <p:nvSpPr>
          <p:cNvPr id="10" name="journey-example-1">
            <a:extLst xmlns:a="http://schemas.openxmlformats.org/drawingml/2006/main">
              <a:ext uri="{FF2B5EF4-FFF2-40B4-BE49-F238E27FC236}">
                <a16:creationId xmlns:a16="http://schemas.microsoft.com/office/drawing/2014/main" id="{64D179F1-DA10-42E7-9198-96F96147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33800"/>
            <a:ext cx="2857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250">
                <a:solidFill>
                  <a:srgbClr val="101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1B20"/>
                </a:solidFill>
                <a:latin typeface="Helvetica Neue"/>
                <a:ea typeface="Helvetica Neue"/>
                <a:cs typeface="Helvetica Neue"/>
              </a:rPr>
              <a:t>“investigar 1”</a:t>
            </a:r>
          </a:p>
        </p:txBody>
      </p:sp>
      <p:sp>
        <p:nvSpPr>
          <p:cNvPr id="11" name="journey-body-1">
            <a:extLst xmlns:a="http://schemas.openxmlformats.org/drawingml/2006/main">
              <a:ext uri="{FF2B5EF4-FFF2-40B4-BE49-F238E27FC236}">
                <a16:creationId xmlns:a16="http://schemas.microsoft.com/office/drawing/2014/main" id="{C20E9653-2CDC-451C-ADF0-298FC197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324350"/>
            <a:ext cx="28575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80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rPr>
              <a:t>Se lanzan búsqueda, síntesis y auditoría V3.</a:t>
            </a:r>
          </a:p>
        </p:txBody>
      </p:sp>
      <p:sp>
        <p:nvSpPr>
          <p:cNvPr id="12" name="journey-dot-2">
            <a:extLst xmlns:a="http://schemas.openxmlformats.org/drawingml/2006/main">
              <a:ext uri="{FF2B5EF4-FFF2-40B4-BE49-F238E27FC236}">
                <a16:creationId xmlns:a16="http://schemas.microsoft.com/office/drawing/2014/main" id="{F9362B53-E8E1-4B10-8F0D-835956F5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337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B20"/>
          </a:solidFill>
        </p:spPr>
      </p:sp>
      <p:sp>
        <p:nvSpPr>
          <p:cNvPr id="13" name="journey-label-2">
            <a:extLst xmlns:a="http://schemas.openxmlformats.org/drawingml/2006/main">
              <a:ext uri="{FF2B5EF4-FFF2-40B4-BE49-F238E27FC236}">
                <a16:creationId xmlns:a16="http://schemas.microsoft.com/office/drawing/2014/main" id="{23FD9C3E-4715-43DA-9EA9-207384BE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52700"/>
            <a:ext cx="266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867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6753"/>
                </a:solidFill>
                <a:latin typeface="Helvetica Neue"/>
                <a:ea typeface="Helvetica Neue"/>
                <a:cs typeface="Helvetica Neue"/>
              </a:rPr>
              <a:t>RESULTADO</a:t>
            </a:r>
          </a:p>
        </p:txBody>
      </p:sp>
      <p:sp>
        <p:nvSpPr>
          <p:cNvPr id="14" name="journey-example-2">
            <a:extLst xmlns:a="http://schemas.openxmlformats.org/drawingml/2006/main">
              <a:ext uri="{FF2B5EF4-FFF2-40B4-BE49-F238E27FC236}">
                <a16:creationId xmlns:a16="http://schemas.microsoft.com/office/drawing/2014/main" id="{8F5D2D41-1497-48B4-9A85-02044AE2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33800"/>
            <a:ext cx="2857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250">
                <a:solidFill>
                  <a:srgbClr val="101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1B20"/>
                </a:solidFill>
                <a:latin typeface="Helvetica Neue"/>
                <a:ea typeface="Helvetica Neue"/>
                <a:cs typeface="Helvetica Neue"/>
              </a:rPr>
              <a:t>Artículo trazable</a:t>
            </a:r>
          </a:p>
        </p:txBody>
      </p:sp>
      <p:sp>
        <p:nvSpPr>
          <p:cNvPr id="15" name="journey-body-2">
            <a:extLst xmlns:a="http://schemas.openxmlformats.org/drawingml/2006/main">
              <a:ext uri="{FF2B5EF4-FFF2-40B4-BE49-F238E27FC236}">
                <a16:creationId xmlns:a16="http://schemas.microsoft.com/office/drawing/2014/main" id="{50F9D417-7B7E-4E7D-9BF3-04544380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324350"/>
            <a:ext cx="28575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80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rPr>
              <a:t>Postgres conserva evidencia, estado y entregable.</a:t>
            </a:r>
          </a:p>
        </p:txBody>
      </p:sp>
      <p:cxnSp>
        <p:nvCxnSpPr>
          <p:cNvPr id="34" name="footer-rule-4"/>
          <p:cNvCxnSpPr/>
          <p:nvPr/>
        </p:nvCxnSpPr>
        <p:spPr>
          <a:xfrm xmlns:a="http://schemas.openxmlformats.org/drawingml/2006/main">
            <a:off x="400050" y="62865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0BD"/>
            </a:solidFill>
            <a:prstDash val="solid"/>
          </a:ln>
        </p:spPr>
      </p:cxnSp>
      <p:sp>
        <p:nvSpPr>
          <p:cNvPr id="17" name="footer-source-4">
            <a:extLst xmlns:a="http://schemas.openxmlformats.org/drawingml/2006/main">
              <a:ext uri="{FF2B5EF4-FFF2-40B4-BE49-F238E27FC236}">
                <a16:creationId xmlns:a16="http://schemas.microsoft.com/office/drawing/2014/main" id="{3AC06AFA-4FEA-49FA-A739-9B1A3463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90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rPr>
              <a:t>ResearchFlow · Daniel Cueto Torrico</a:t>
            </a:r>
          </a:p>
        </p:txBody>
      </p:sp>
      <p:sp>
        <p:nvSpPr>
          <p:cNvPr id="18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5C741364-35FD-48DD-8FA5-FBE7CB58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Aft>
                <a:spcPts val="0"/>
              </a:spcAft>
              <a:buNone/>
              <a:defRPr sz="105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751708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F427FAA-684D-46A3-8A47-0C1AADABB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0"/>
              </a:spcAft>
              <a:buNone/>
              <a:defRPr sz="3600">
                <a:solidFill>
                  <a:srgbClr val="101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1B20"/>
                </a:solidFill>
                <a:latin typeface="Helvetica Neue"/>
                <a:ea typeface="Helvetica Neue"/>
                <a:cs typeface="Helvetica Neue"/>
              </a:rPr>
              <a:t>Una arquitectura pequeña, pero completa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78BECB-E4C4-4177-84AA-5256E8AD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80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rPr>
              <a:t>Cada componente tiene una responsabilidad clara y puede observarse por separado.</a:t>
            </a:r>
          </a:p>
        </p:txBody>
      </p:sp>
      <p:cxnSp>
        <p:nvCxnSpPr>
          <p:cNvPr id="26" name="arch-connector-0"/>
          <p:cNvCxnSpPr/>
          <p:nvPr/>
        </p:nvCxnSpPr>
        <p:spPr>
          <a:xfrm xmlns:a="http://schemas.openxmlformats.org/drawingml/2006/main">
            <a:off x="2152650" y="3409950"/>
            <a:ext cx="123825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DD66F"/>
            </a:solidFill>
            <a:prstDash val="solid"/>
          </a:ln>
        </p:spPr>
      </p:cxnSp>
      <p:cxnSp>
        <p:nvCxnSpPr>
          <p:cNvPr id="27" name="arch-connector-1"/>
          <p:cNvCxnSpPr/>
          <p:nvPr/>
        </p:nvCxnSpPr>
        <p:spPr>
          <a:xfrm xmlns:a="http://schemas.openxmlformats.org/drawingml/2006/main">
            <a:off x="4686300" y="3409950"/>
            <a:ext cx="123825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DD66F"/>
            </a:solidFill>
            <a:prstDash val="solid"/>
          </a:ln>
        </p:spPr>
      </p:cxnSp>
      <p:cxnSp>
        <p:nvCxnSpPr>
          <p:cNvPr id="28" name="arch-connector-2"/>
          <p:cNvCxnSpPr/>
          <p:nvPr/>
        </p:nvCxnSpPr>
        <p:spPr>
          <a:xfrm xmlns:a="http://schemas.openxmlformats.org/drawingml/2006/main">
            <a:off x="7219950" y="3409950"/>
            <a:ext cx="123825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DD66F"/>
            </a:solidFill>
            <a:prstDash val="solid"/>
          </a:ln>
        </p:spPr>
      </p:cxnSp>
      <p:sp>
        <p:nvSpPr>
          <p:cNvPr id="6" name="arch-node-0">
            <a:extLst xmlns:a="http://schemas.openxmlformats.org/drawingml/2006/main">
              <a:ext uri="{FF2B5EF4-FFF2-40B4-BE49-F238E27FC236}">
                <a16:creationId xmlns:a16="http://schemas.microsoft.com/office/drawing/2014/main" id="{51F8EDC0-6232-45DA-96D6-C702D4B8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2152650" cy="220980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EEF1EF"/>
          </a:solidFill>
          <a:ln xmlns:a="http://schemas.openxmlformats.org/drawingml/2006/main" w="9525">
            <a:solidFill>
              <a:srgbClr val="B8C0BD"/>
            </a:solidFill>
            <a:prstDash val="solid"/>
          </a:ln>
        </p:spPr>
      </p:sp>
      <p:sp>
        <p:nvSpPr>
          <p:cNvPr id="7" name="arch-label-0">
            <a:extLst xmlns:a="http://schemas.openxmlformats.org/drawingml/2006/main">
              <a:ext uri="{FF2B5EF4-FFF2-40B4-BE49-F238E27FC236}">
                <a16:creationId xmlns:a16="http://schemas.microsoft.com/office/drawing/2014/main" id="{C011E3D9-C707-4B49-85EE-685D2C30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7335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275">
                <a:solidFill>
                  <a:srgbClr val="0867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6753"/>
                </a:solidFill>
                <a:latin typeface="Helvetica Neue"/>
                <a:ea typeface="Helvetica Neue"/>
                <a:cs typeface="Helvetica Neue"/>
              </a:rPr>
              <a:t>CANALES</a:t>
            </a:r>
          </a:p>
        </p:txBody>
      </p:sp>
      <p:sp>
        <p:nvSpPr>
          <p:cNvPr id="8" name="arch-body-0">
            <a:extLst xmlns:a="http://schemas.openxmlformats.org/drawingml/2006/main">
              <a:ext uri="{FF2B5EF4-FFF2-40B4-BE49-F238E27FC236}">
                <a16:creationId xmlns:a16="http://schemas.microsoft.com/office/drawing/2014/main" id="{F5EC1374-D912-41ED-8033-300B4D5A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17335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025">
                <a:solidFill>
                  <a:srgbClr val="101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01B20"/>
                </a:solidFill>
                <a:latin typeface="Helvetica Neue"/>
                <a:ea typeface="Helvetica Neue"/>
                <a:cs typeface="Helvetica Neue"/>
              </a:rPr>
              <a:t>Chat
WhatsApp
Webhook</a:t>
            </a:r>
          </a:p>
        </p:txBody>
      </p:sp>
      <p:sp>
        <p:nvSpPr>
          <p:cNvPr id="9" name="arch-node-1">
            <a:extLst xmlns:a="http://schemas.openxmlformats.org/drawingml/2006/main">
              <a:ext uri="{FF2B5EF4-FFF2-40B4-BE49-F238E27FC236}">
                <a16:creationId xmlns:a16="http://schemas.microsoft.com/office/drawing/2014/main" id="{A251B144-A337-4E8A-A2B9-8DFD71EE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05050"/>
            <a:ext cx="2152650" cy="220980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101B20"/>
          </a:solidFill>
          <a:ln xmlns:a="http://schemas.openxmlformats.org/drawingml/2006/main" w="9525">
            <a:solidFill>
              <a:srgbClr val="101B20"/>
            </a:solidFill>
            <a:prstDash val="solid"/>
          </a:ln>
        </p:spPr>
      </p:sp>
      <p:sp>
        <p:nvSpPr>
          <p:cNvPr id="10" name="arch-label-1">
            <a:extLst xmlns:a="http://schemas.openxmlformats.org/drawingml/2006/main">
              <a:ext uri="{FF2B5EF4-FFF2-40B4-BE49-F238E27FC236}">
                <a16:creationId xmlns:a16="http://schemas.microsoft.com/office/drawing/2014/main" id="{14FE6710-0590-4BB8-934B-3DA42975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90800"/>
            <a:ext cx="17335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275">
                <a:solidFill>
                  <a:srgbClr val="1DD6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D66F"/>
                </a:solidFill>
                <a:latin typeface="Helvetica Neue"/>
                <a:ea typeface="Helvetica Neue"/>
                <a:cs typeface="Helvetica Neue"/>
              </a:rPr>
              <a:t>ORQUESTACIÓN</a:t>
            </a:r>
          </a:p>
        </p:txBody>
      </p:sp>
      <p:sp>
        <p:nvSpPr>
          <p:cNvPr id="11" name="arch-body-1">
            <a:extLst xmlns:a="http://schemas.openxmlformats.org/drawingml/2006/main">
              <a:ext uri="{FF2B5EF4-FFF2-40B4-BE49-F238E27FC236}">
                <a16:creationId xmlns:a16="http://schemas.microsoft.com/office/drawing/2014/main" id="{1CB6B9F2-F5CD-4AA5-918F-46F832B5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9450"/>
            <a:ext cx="17335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0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n8n
4 workflows</a:t>
            </a:r>
          </a:p>
        </p:txBody>
      </p:sp>
      <p:sp>
        <p:nvSpPr>
          <p:cNvPr id="12" name="arch-node-2">
            <a:extLst xmlns:a="http://schemas.openxmlformats.org/drawingml/2006/main">
              <a:ext uri="{FF2B5EF4-FFF2-40B4-BE49-F238E27FC236}">
                <a16:creationId xmlns:a16="http://schemas.microsoft.com/office/drawing/2014/main" id="{0F517964-13FD-4730-8E06-A7A00979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305050"/>
            <a:ext cx="2152650" cy="220980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EEF1EF"/>
          </a:solidFill>
          <a:ln xmlns:a="http://schemas.openxmlformats.org/drawingml/2006/main" w="9525">
            <a:solidFill>
              <a:srgbClr val="B8C0BD"/>
            </a:solidFill>
            <a:prstDash val="solid"/>
          </a:ln>
        </p:spPr>
      </p:sp>
      <p:sp>
        <p:nvSpPr>
          <p:cNvPr id="13" name="arch-label-2">
            <a:extLst xmlns:a="http://schemas.openxmlformats.org/drawingml/2006/main">
              <a:ext uri="{FF2B5EF4-FFF2-40B4-BE49-F238E27FC236}">
                <a16:creationId xmlns:a16="http://schemas.microsoft.com/office/drawing/2014/main" id="{0BB08C7C-CE3B-45C7-A5D8-3ACCF9D7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90800"/>
            <a:ext cx="17335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275">
                <a:solidFill>
                  <a:srgbClr val="0867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6753"/>
                </a:solidFill>
                <a:latin typeface="Helvetica Neue"/>
                <a:ea typeface="Helvetica Neue"/>
                <a:cs typeface="Helvetica Neue"/>
              </a:rPr>
              <a:t>INTELIGENCIA</a:t>
            </a:r>
          </a:p>
        </p:txBody>
      </p:sp>
      <p:sp>
        <p:nvSpPr>
          <p:cNvPr id="14" name="arch-body-2">
            <a:extLst xmlns:a="http://schemas.openxmlformats.org/drawingml/2006/main">
              <a:ext uri="{FF2B5EF4-FFF2-40B4-BE49-F238E27FC236}">
                <a16:creationId xmlns:a16="http://schemas.microsoft.com/office/drawing/2014/main" id="{5C1099B3-2EB4-4AA9-9F9D-21AACEDF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19450"/>
            <a:ext cx="17335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025">
                <a:solidFill>
                  <a:srgbClr val="101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01B20"/>
                </a:solidFill>
                <a:latin typeface="Helvetica Neue"/>
                <a:ea typeface="Helvetica Neue"/>
                <a:cs typeface="Helvetica Neue"/>
              </a:rPr>
              <a:t>Gemini 2.5
+ Search</a:t>
            </a:r>
          </a:p>
        </p:txBody>
      </p:sp>
      <p:sp>
        <p:nvSpPr>
          <p:cNvPr id="15" name="arch-node-3">
            <a:extLst xmlns:a="http://schemas.openxmlformats.org/drawingml/2006/main">
              <a:ext uri="{FF2B5EF4-FFF2-40B4-BE49-F238E27FC236}">
                <a16:creationId xmlns:a16="http://schemas.microsoft.com/office/drawing/2014/main" id="{9025FCAA-5B9F-4CB7-907B-68C46B02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05050"/>
            <a:ext cx="2152650" cy="220980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EEF1EF"/>
          </a:solidFill>
          <a:ln xmlns:a="http://schemas.openxmlformats.org/drawingml/2006/main" w="9525">
            <a:solidFill>
              <a:srgbClr val="B8C0BD"/>
            </a:solidFill>
            <a:prstDash val="solid"/>
          </a:ln>
        </p:spPr>
      </p:sp>
      <p:sp>
        <p:nvSpPr>
          <p:cNvPr id="16" name="arch-label-3">
            <a:extLst xmlns:a="http://schemas.openxmlformats.org/drawingml/2006/main">
              <a:ext uri="{FF2B5EF4-FFF2-40B4-BE49-F238E27FC236}">
                <a16:creationId xmlns:a16="http://schemas.microsoft.com/office/drawing/2014/main" id="{68CAC763-5B29-4E1F-883B-EB98194F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90800"/>
            <a:ext cx="17335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275">
                <a:solidFill>
                  <a:srgbClr val="0867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6753"/>
                </a:solidFill>
                <a:latin typeface="Helvetica Neue"/>
                <a:ea typeface="Helvetica Neue"/>
                <a:cs typeface="Helvetica Neue"/>
              </a:rPr>
              <a:t>DATOS Y SALIDAS</a:t>
            </a:r>
          </a:p>
        </p:txBody>
      </p:sp>
      <p:sp>
        <p:nvSpPr>
          <p:cNvPr id="17" name="arch-body-3">
            <a:extLst xmlns:a="http://schemas.openxmlformats.org/drawingml/2006/main">
              <a:ext uri="{FF2B5EF4-FFF2-40B4-BE49-F238E27FC236}">
                <a16:creationId xmlns:a16="http://schemas.microsoft.com/office/drawing/2014/main" id="{09A0221A-7D4B-41DE-8A01-8110FE79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19450"/>
            <a:ext cx="17335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025">
                <a:solidFill>
                  <a:srgbClr val="101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01B20"/>
                </a:solidFill>
                <a:latin typeface="Helvetica Neue"/>
                <a:ea typeface="Helvetica Neue"/>
                <a:cs typeface="Helvetica Neue"/>
              </a:rPr>
              <a:t>PostgreSQL
Gmail · Sheets</a:t>
            </a:r>
          </a:p>
        </p:txBody>
      </p:sp>
      <p:sp>
        <p:nvSpPr>
          <p:cNvPr id="18" name="infra-band">
            <a:extLst xmlns:a="http://schemas.openxmlformats.org/drawingml/2006/main">
              <a:ext uri="{FF2B5EF4-FFF2-40B4-BE49-F238E27FC236}">
                <a16:creationId xmlns:a16="http://schemas.microsoft.com/office/drawing/2014/main" id="{F5D9D0B7-2589-4EC2-B3CA-488AB613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97536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6"/>
          </a:solidFill>
          <a:ln xmlns:a="http://schemas.openxmlformats.org/drawingml/2006/main" w="9525">
            <a:solidFill>
              <a:srgbClr val="B8C0B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9824E7-AB40-4E0B-B3EB-66ADAB8A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72075"/>
            <a:ext cx="1809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rgbClr val="0867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6753"/>
                </a:solidFill>
                <a:latin typeface="Helvetica Neue"/>
                <a:ea typeface="Helvetica Neue"/>
                <a:cs typeface="Helvetica Neue"/>
              </a:rPr>
              <a:t>INFRAESTRUCTURA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B6D2CE-B26F-4067-A9F7-D4F0D30F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24450"/>
            <a:ext cx="7124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950">
                <a:solidFill>
                  <a:srgbClr val="101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01B20"/>
                </a:solidFill>
                <a:latin typeface="Helvetica Neue"/>
                <a:ea typeface="Helvetica Neue"/>
                <a:cs typeface="Helvetica Neue"/>
              </a:rPr>
              <a:t>Docker · Caddy HTTPS · DigitalOcean · camba.tech</a:t>
            </a:r>
          </a:p>
        </p:txBody>
      </p:sp>
      <p:cxnSp>
        <p:nvCxnSpPr>
          <p:cNvPr id="44" name="footer-rule-5"/>
          <p:cNvCxnSpPr/>
          <p:nvPr/>
        </p:nvCxnSpPr>
        <p:spPr>
          <a:xfrm xmlns:a="http://schemas.openxmlformats.org/drawingml/2006/main">
            <a:off x="400050" y="62865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0BD"/>
            </a:solidFill>
            <a:prstDash val="solid"/>
          </a:ln>
        </p:spPr>
      </p:cxnSp>
      <p:sp>
        <p:nvSpPr>
          <p:cNvPr id="22" name="footer-source-5">
            <a:extLst xmlns:a="http://schemas.openxmlformats.org/drawingml/2006/main">
              <a:ext uri="{FF2B5EF4-FFF2-40B4-BE49-F238E27FC236}">
                <a16:creationId xmlns:a16="http://schemas.microsoft.com/office/drawing/2014/main" id="{50F722B6-AB99-4DDA-9B4C-F90965EC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90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rPr>
              <a:t>ResearchFlow · Daniel Cueto Torrico</a:t>
            </a:r>
          </a:p>
        </p:txBody>
      </p:sp>
      <p:sp>
        <p:nvSpPr>
          <p:cNvPr id="23" name="footer-number-5">
            <a:extLst xmlns:a="http://schemas.openxmlformats.org/drawingml/2006/main">
              <a:ext uri="{FF2B5EF4-FFF2-40B4-BE49-F238E27FC236}">
                <a16:creationId xmlns:a16="http://schemas.microsoft.com/office/drawing/2014/main" id="{495313B7-8D13-4FBC-908D-21EBB12B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Aft>
                <a:spcPts val="0"/>
              </a:spcAft>
              <a:buNone/>
              <a:defRPr sz="105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385320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EB49FE-85FD-40D2-B92B-B5E2EEE7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0"/>
              </a:spcAft>
              <a:buNone/>
              <a:defRPr sz="3600">
                <a:solidFill>
                  <a:srgbClr val="101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1B20"/>
                </a:solidFill>
                <a:latin typeface="Helvetica Neue"/>
                <a:ea typeface="Helvetica Neue"/>
                <a:cs typeface="Helvetica Neue"/>
              </a:rPr>
              <a:t>La V3 verifica antes de publicar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A86171-0CDA-412B-94BC-F3105F9D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049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80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rPr>
              <a:t>El auditor adversarial no adorna el informe: elimina cifras débiles, reclasifica hipótesis y registra contradicciones.</a:t>
            </a:r>
          </a:p>
        </p:txBody>
      </p:sp>
      <p:sp>
        <p:nvSpPr>
          <p:cNvPr id="3" name="audit-left">
            <a:extLst xmlns:a="http://schemas.openxmlformats.org/drawingml/2006/main">
              <a:ext uri="{FF2B5EF4-FFF2-40B4-BE49-F238E27FC236}">
                <a16:creationId xmlns:a16="http://schemas.microsoft.com/office/drawing/2014/main" id="{75C643C6-3B2A-46FE-8B9B-4E8FEEB6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52959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6"/>
          </a:solidFill>
          <a:ln xmlns:a="http://schemas.openxmlformats.org/drawingml/2006/main" w="9525">
            <a:solidFill>
              <a:srgbClr val="B8C0BD"/>
            </a:solidFill>
            <a:prstDash val="solid"/>
          </a:ln>
        </p:spPr>
      </p:sp>
      <p:sp>
        <p:nvSpPr>
          <p:cNvPr id="4" name="audit-right">
            <a:extLst xmlns:a="http://schemas.openxmlformats.org/drawingml/2006/main">
              <a:ext uri="{FF2B5EF4-FFF2-40B4-BE49-F238E27FC236}">
                <a16:creationId xmlns:a16="http://schemas.microsoft.com/office/drawing/2014/main" id="{1DD02865-F404-44E3-B362-DDF4D2B1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09800"/>
            <a:ext cx="56769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EF"/>
          </a:solidFill>
          <a:ln xmlns:a="http://schemas.openxmlformats.org/drawingml/2006/main" w="9525">
            <a:solidFill>
              <a:srgbClr val="1DD66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FB5DA5-135F-4653-A082-D54E6706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4572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16066"/>
                </a:solidFill>
                <a:latin typeface="Helvetica Neue"/>
                <a:ea typeface="Helvetica Neue"/>
                <a:cs typeface="Helvetica Neue"/>
              </a:rPr>
              <a:t>SÍNTESIS PROPUESTA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04190A-693F-47AC-8CC4-5B28FAEA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4095750" cy="1390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250">
                <a:solidFill>
                  <a:srgbClr val="101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01B20"/>
                </a:solidFill>
                <a:latin typeface="Helvetica Neue"/>
                <a:ea typeface="Helvetica Neue"/>
                <a:cs typeface="Helvetica Neue"/>
              </a:rPr>
              <a:t>Hechos
Datasets
Fuentes originales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63F8F4-CD27-4AE6-870B-9D03CF08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14600"/>
            <a:ext cx="4762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867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6753"/>
                </a:solidFill>
                <a:latin typeface="Helvetica Neue"/>
                <a:ea typeface="Helvetica Neue"/>
                <a:cs typeface="Helvetica Neue"/>
              </a:rPr>
              <a:t>AUDITORÍA ADVERSARIAL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FDCED8-CB37-4EDE-8962-3F41BD96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86100"/>
            <a:ext cx="4572000" cy="1390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250">
                <a:solidFill>
                  <a:srgbClr val="101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1B20"/>
                </a:solidFill>
                <a:latin typeface="Helvetica Neue"/>
                <a:ea typeface="Helvetica Neue"/>
                <a:cs typeface="Helvetica Neue"/>
              </a:rPr>
              <a:t>Verifica cada ID
Contrasta fuentes
Calcula cobertura</a:t>
            </a:r>
          </a:p>
        </p:txBody>
      </p:sp>
      <p:sp>
        <p:nvSpPr>
          <p:cNvPr id="9" name="audit-outcome">
            <a:extLst xmlns:a="http://schemas.openxmlformats.org/drawingml/2006/main">
              <a:ext uri="{FF2B5EF4-FFF2-40B4-BE49-F238E27FC236}">
                <a16:creationId xmlns:a16="http://schemas.microsoft.com/office/drawing/2014/main" id="{9BB82BD1-9224-4872-83C6-C654D142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391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0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F6D99C-B32D-45C2-9D87-3327F985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668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Sin auditoría válida no existe puntaje numérico.</a:t>
            </a:r>
          </a:p>
        </p:txBody>
      </p:sp>
      <p:cxnSp>
        <p:nvCxnSpPr>
          <p:cNvPr id="24" name="footer-rule-6"/>
          <p:cNvCxnSpPr/>
          <p:nvPr/>
        </p:nvCxnSpPr>
        <p:spPr>
          <a:xfrm xmlns:a="http://schemas.openxmlformats.org/drawingml/2006/main">
            <a:off x="400050" y="62865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0BD"/>
            </a:solidFill>
            <a:prstDash val="solid"/>
          </a:ln>
        </p:spPr>
      </p:cxnSp>
      <p:sp>
        <p:nvSpPr>
          <p:cNvPr id="12" name="footer-source-6">
            <a:extLst xmlns:a="http://schemas.openxmlformats.org/drawingml/2006/main">
              <a:ext uri="{FF2B5EF4-FFF2-40B4-BE49-F238E27FC236}">
                <a16:creationId xmlns:a16="http://schemas.microsoft.com/office/drawing/2014/main" id="{0396947E-369C-49D4-885A-7A9D64EE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90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rPr>
              <a:t>ResearchFlow · Daniel Cueto Torrico</a:t>
            </a:r>
          </a:p>
        </p:txBody>
      </p:sp>
      <p:sp>
        <p:nvSpPr>
          <p:cNvPr id="13" name="footer-number-6">
            <a:extLst xmlns:a="http://schemas.openxmlformats.org/drawingml/2006/main">
              <a:ext uri="{FF2B5EF4-FFF2-40B4-BE49-F238E27FC236}">
                <a16:creationId xmlns:a16="http://schemas.microsoft.com/office/drawing/2014/main" id="{81E8163B-EB89-41B7-90A3-28E221FC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Aft>
                <a:spcPts val="0"/>
              </a:spcAft>
              <a:buNone/>
              <a:defRPr sz="105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009992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779A361-4E8B-4195-8F4A-5C98D19B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0"/>
              </a:spcAft>
              <a:buNone/>
              <a:defRPr sz="3600">
                <a:solidFill>
                  <a:srgbClr val="101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1B20"/>
                </a:solidFill>
                <a:latin typeface="Helvetica Neue"/>
                <a:ea typeface="Helvetica Neue"/>
                <a:cs typeface="Helvetica Neue"/>
              </a:rPr>
              <a:t>La interfaz convierte ideas en preguntas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8092C6-C4CC-4D37-9888-68E54946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49530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025">
                <a:solidFill>
                  <a:srgbClr val="516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rPr>
              <a:t>El chat guarda el contexto de la sesión y permite pasar de una intuición a una investigación profunda sin formular prompts técnicos.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8C7425-5F2C-4938-B09E-B5A3DA21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86100"/>
            <a:ext cx="400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425">
                <a:solidFill>
                  <a:srgbClr val="0867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6753"/>
                </a:solidFill>
                <a:latin typeface="Helvetica Neue"/>
                <a:ea typeface="Helvetica Neue"/>
                <a:cs typeface="Helvetica Neue"/>
              </a:rPr>
              <a:t>Comandos de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F1AE7B-E809-4AF9-BBF6-1C86349B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44767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101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1B20"/>
                </a:solidFill>
                <a:latin typeface="Helvetica Neue"/>
                <a:ea typeface="Helvetica Neue"/>
                <a:cs typeface="Helvetica Neue"/>
              </a:rPr>
              <a:t>ideas
investigar 1
investigar: &lt;tema&gt;</a:t>
            </a:r>
          </a:p>
        </p:txBody>
      </p:sp>
      <p:sp>
        <p:nvSpPr>
          <p:cNvPr id="5" name="chat-image-frame">
            <a:extLst xmlns:a="http://schemas.openxmlformats.org/drawingml/2006/main">
              <a:ext uri="{FF2B5EF4-FFF2-40B4-BE49-F238E27FC236}">
                <a16:creationId xmlns:a16="http://schemas.microsoft.com/office/drawing/2014/main" id="{3E67540C-AD83-458C-B606-67441211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200150"/>
            <a:ext cx="55435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F"/>
          </a:solidFill>
          <a:ln xmlns:a="http://schemas.openxmlformats.org/drawingml/2006/main" w="9525">
            <a:solidFill>
              <a:srgbClr val="B8C0BD"/>
            </a:solidFill>
            <a:prstDash val="solid"/>
          </a:ln>
        </p:spPr>
      </p:sp>
      <p:cxnSp>
        <p:nvCxnSpPr>
          <p:cNvPr id="15" name="footer-rule-7"/>
          <p:cNvCxnSpPr/>
          <p:nvPr/>
        </p:nvCxnSpPr>
        <p:spPr>
          <a:xfrm xmlns:a="http://schemas.openxmlformats.org/drawingml/2006/main">
            <a:off x="400050" y="62865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0BD"/>
            </a:solidFill>
            <a:prstDash val="solid"/>
          </a:ln>
        </p:spPr>
      </p:cxnSp>
      <p:sp>
        <p:nvSpPr>
          <p:cNvPr id="7" name="footer-source-7">
            <a:extLst xmlns:a="http://schemas.openxmlformats.org/drawingml/2006/main">
              <a:ext uri="{FF2B5EF4-FFF2-40B4-BE49-F238E27FC236}">
                <a16:creationId xmlns:a16="http://schemas.microsoft.com/office/drawing/2014/main" id="{55680456-4AA9-40A6-959D-9E6603BC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90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rPr>
              <a:t>ResearchFlow · Daniel Cueto Torrico</a:t>
            </a:r>
          </a:p>
        </p:txBody>
      </p:sp>
      <p:sp>
        <p:nvSpPr>
          <p:cNvPr id="8" name="footer-number-7">
            <a:extLst xmlns:a="http://schemas.openxmlformats.org/drawingml/2006/main">
              <a:ext uri="{FF2B5EF4-FFF2-40B4-BE49-F238E27FC236}">
                <a16:creationId xmlns:a16="http://schemas.microsoft.com/office/drawing/2014/main" id="{2338C93E-9D1E-4EB8-8DEC-921CC351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Aft>
                <a:spcPts val="0"/>
              </a:spcAft>
              <a:buNone/>
              <a:defRPr sz="105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931ccff2194011"/>
          <a:stretch xmlns:a="http://schemas.openxmlformats.org/drawingml/2006/main"/>
        </p:blipFill>
        <p:spPr>
          <a:xfrm xmlns:a="http://schemas.openxmlformats.org/drawingml/2006/main">
            <a:off x="7305675" y="1200150"/>
            <a:ext cx="3429000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0681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E0FBA5-E09D-4B66-8067-064D982C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0"/>
              </a:spcAft>
              <a:buNone/>
              <a:defRPr sz="3600">
                <a:solidFill>
                  <a:srgbClr val="101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1B20"/>
                </a:solidFill>
                <a:latin typeface="Helvetica Neue"/>
                <a:ea typeface="Helvetica Neue"/>
                <a:cs typeface="Helvetica Neue"/>
              </a:rPr>
              <a:t>Cada ejecución queda visible en n8n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BAB9E0-15EA-4432-89CE-44371B19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049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725">
                <a:solidFill>
                  <a:srgbClr val="516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rPr>
              <a:t>Nodos, bifurcaciones, entradas y resultados pueden inspeccionarse; la automatización no es una caja negra.</a:t>
            </a:r>
          </a:p>
        </p:txBody>
      </p:sp>
      <p:sp>
        <p:nvSpPr>
          <p:cNvPr id="3" name="workflow-image-frame">
            <a:extLst xmlns:a="http://schemas.openxmlformats.org/drawingml/2006/main">
              <a:ext uri="{FF2B5EF4-FFF2-40B4-BE49-F238E27FC236}">
                <a16:creationId xmlns:a16="http://schemas.microsoft.com/office/drawing/2014/main" id="{703B4FC0-444F-4909-BC3B-A28519A5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71650"/>
            <a:ext cx="1139190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1F1F"/>
          </a:solidFill>
        </p:spPr>
      </p:sp>
      <p:cxnSp>
        <p:nvCxnSpPr>
          <p:cNvPr id="11" name="footer-rule-8"/>
          <p:cNvCxnSpPr/>
          <p:nvPr/>
        </p:nvCxnSpPr>
        <p:spPr>
          <a:xfrm xmlns:a="http://schemas.openxmlformats.org/drawingml/2006/main">
            <a:off x="400050" y="62865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0BD"/>
            </a:solidFill>
            <a:prstDash val="solid"/>
          </a:ln>
        </p:spPr>
      </p:cxnSp>
      <p:sp>
        <p:nvSpPr>
          <p:cNvPr id="5" name="footer-source-8">
            <a:extLst xmlns:a="http://schemas.openxmlformats.org/drawingml/2006/main">
              <a:ext uri="{FF2B5EF4-FFF2-40B4-BE49-F238E27FC236}">
                <a16:creationId xmlns:a16="http://schemas.microsoft.com/office/drawing/2014/main" id="{DE9FEAA9-BDE7-4B76-905C-F26A2590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90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rPr>
              <a:t>ResearchFlow · Daniel Cueto Torrico</a:t>
            </a:r>
          </a:p>
        </p:txBody>
      </p:sp>
      <p:sp>
        <p:nvSpPr>
          <p:cNvPr id="6" name="footer-number-8">
            <a:extLst xmlns:a="http://schemas.openxmlformats.org/drawingml/2006/main">
              <a:ext uri="{FF2B5EF4-FFF2-40B4-BE49-F238E27FC236}">
                <a16:creationId xmlns:a16="http://schemas.microsoft.com/office/drawing/2014/main" id="{38155D20-5828-461E-B95F-5DF535CA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Aft>
                <a:spcPts val="0"/>
              </a:spcAft>
              <a:buNone/>
              <a:defRPr sz="105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504ff18d6a4fe4"/>
          <a:stretch xmlns:a="http://schemas.openxmlformats.org/drawingml/2006/main"/>
        </p:blipFill>
        <p:spPr>
          <a:xfrm xmlns:a="http://schemas.openxmlformats.org/drawingml/2006/main">
            <a:off x="2463515" y="1771650"/>
            <a:ext cx="7264970" cy="4210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9524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F42E14-5408-449D-B987-37F3915E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0"/>
              </a:spcAft>
              <a:buNone/>
              <a:defRPr sz="3600">
                <a:solidFill>
                  <a:srgbClr val="101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1B20"/>
                </a:solidFill>
                <a:latin typeface="Helvetica Neue"/>
                <a:ea typeface="Helvetica Neue"/>
                <a:cs typeface="Helvetica Neue"/>
              </a:rPr>
              <a:t>La prueba real cerró el circuito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C546DD-06BF-4391-8887-298C0688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49530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80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rPr>
              <a:t>Gemini respondió, la auditoría fue válida y PostgreSQL recibió el entregable y su evidencia.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9A3615-BFE8-4835-BE38-DE65FF57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1619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4050">
                <a:solidFill>
                  <a:srgbClr val="0867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86753"/>
                </a:solidFill>
                <a:latin typeface="Helvetica Neue"/>
                <a:ea typeface="Helvetica Neue"/>
                <a:cs typeface="Helvetica Neue"/>
              </a:rPr>
              <a:t>200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0B059E-61B3-450E-8E06-15988CC7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101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B20"/>
                </a:solidFill>
                <a:latin typeface="Helvetica Neue"/>
                <a:ea typeface="Helvetica Neue"/>
                <a:cs typeface="Helvetica Neue"/>
              </a:rPr>
              <a:t>API Gemini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68697-5127-433C-87AA-FE66AED3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81250"/>
            <a:ext cx="1619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4050">
                <a:solidFill>
                  <a:srgbClr val="0867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86753"/>
                </a:solidFill>
                <a:latin typeface="Helvetica Neue"/>
                <a:ea typeface="Helvetica Neue"/>
                <a:cs typeface="Helvetica Neue"/>
              </a:rPr>
              <a:t>80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1C48F0-D53A-482C-9C9F-B9E0EB7A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105150"/>
            <a:ext cx="2476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101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B20"/>
                </a:solidFill>
                <a:latin typeface="Helvetica Neue"/>
                <a:ea typeface="Helvetica Neue"/>
                <a:cs typeface="Helvetica Neue"/>
              </a:rPr>
              <a:t>puntaje de verificación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B9422D-91B5-49C0-94DC-80635AB4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1619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4050">
                <a:solidFill>
                  <a:srgbClr val="0867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86753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3CC65C-5AB0-4548-B5CE-A4FA2221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2190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101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B20"/>
                </a:solidFill>
                <a:latin typeface="Helvetica Neue"/>
                <a:ea typeface="Helvetica Neue"/>
                <a:cs typeface="Helvetica Neue"/>
              </a:rPr>
              <a:t>evidencias persistidas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A5AE19-AB14-44FC-A952-9F5B8686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095750"/>
            <a:ext cx="1619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4050">
                <a:solidFill>
                  <a:srgbClr val="0867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86753"/>
                </a:solidFill>
                <a:latin typeface="Helvetica Neue"/>
                <a:ea typeface="Helvetica Neue"/>
                <a:cs typeface="Helvetica Neue"/>
              </a:rPr>
              <a:t>33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A6F0B9-D212-45B4-AC51-EC9BC587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819650"/>
            <a:ext cx="2190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101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B20"/>
                </a:solidFill>
                <a:latin typeface="Helvetica Neue"/>
                <a:ea typeface="Helvetica Neue"/>
                <a:cs typeface="Helvetica Neue"/>
              </a:rPr>
              <a:t>nodos en la V3</a:t>
            </a:r>
          </a:p>
        </p:txBody>
      </p:sp>
      <p:sp>
        <p:nvSpPr>
          <p:cNvPr id="11" name="execution-image-frame">
            <a:extLst xmlns:a="http://schemas.openxmlformats.org/drawingml/2006/main">
              <a:ext uri="{FF2B5EF4-FFF2-40B4-BE49-F238E27FC236}">
                <a16:creationId xmlns:a16="http://schemas.microsoft.com/office/drawing/2014/main" id="{7AB00D1D-7F90-4138-A250-EBCF8C81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276350"/>
            <a:ext cx="601980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1F1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6CA36E-F97E-4A20-AE8A-F4392C9A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90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rPr>
              <a:t>Fuente: ejecución controlada en producción, 16 jul 2026</a:t>
            </a:r>
          </a:p>
        </p:txBody>
      </p:sp>
      <p:cxnSp>
        <p:nvCxnSpPr>
          <p:cNvPr id="29" name="footer-rule-9"/>
          <p:cNvCxnSpPr/>
          <p:nvPr/>
        </p:nvCxnSpPr>
        <p:spPr>
          <a:xfrm xmlns:a="http://schemas.openxmlformats.org/drawingml/2006/main">
            <a:off x="400050" y="62865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0BD"/>
            </a:solidFill>
            <a:prstDash val="solid"/>
          </a:ln>
        </p:spPr>
      </p:cxnSp>
      <p:sp>
        <p:nvSpPr>
          <p:cNvPr id="14" name="footer-source-9">
            <a:extLst xmlns:a="http://schemas.openxmlformats.org/drawingml/2006/main">
              <a:ext uri="{FF2B5EF4-FFF2-40B4-BE49-F238E27FC236}">
                <a16:creationId xmlns:a16="http://schemas.microsoft.com/office/drawing/2014/main" id="{24FDFD5F-1022-4CEC-A3AE-E430F57D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90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rPr>
              <a:t>ResearchFlow · Daniel Cueto Torrico</a:t>
            </a:r>
          </a:p>
        </p:txBody>
      </p:sp>
      <p:sp>
        <p:nvSpPr>
          <p:cNvPr id="15" name="footer-number-9">
            <a:extLst xmlns:a="http://schemas.openxmlformats.org/drawingml/2006/main">
              <a:ext uri="{FF2B5EF4-FFF2-40B4-BE49-F238E27FC236}">
                <a16:creationId xmlns:a16="http://schemas.microsoft.com/office/drawing/2014/main" id="{C4FCBDCC-AF5D-4764-852D-B178E8FA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Aft>
                <a:spcPts val="0"/>
              </a:spcAft>
              <a:buNone/>
              <a:defRPr sz="105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72d5d4826f43d0"/>
          <a:stretch xmlns:a="http://schemas.openxmlformats.org/drawingml/2006/main"/>
        </p:blipFill>
        <p:spPr>
          <a:xfrm xmlns:a="http://schemas.openxmlformats.org/drawingml/2006/main">
            <a:off x="5772150" y="1663141"/>
            <a:ext cx="6019800" cy="36841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2280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32DC0B-DA7D-4005-86DE-EF3AFAA4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0"/>
              </a:spcAft>
              <a:buNone/>
              <a:defRPr sz="3600">
                <a:solidFill>
                  <a:srgbClr val="101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1B20"/>
                </a:solidFill>
                <a:latin typeface="Helvetica Neue"/>
                <a:ea typeface="Helvetica Neue"/>
                <a:cs typeface="Helvetica Neue"/>
              </a:rPr>
              <a:t>Producción accesible por HTTPS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6F42F1-2410-45CE-8134-20CA2D3D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4762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025">
                <a:solidFill>
                  <a:srgbClr val="516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rPr>
              <a:t>Tres subdominios apuntan al mismo droplet y Caddy enruta cada servicio dentro de Docker.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717AF6-9C16-4B66-8F73-BEA52FD4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4762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101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1B20"/>
                </a:solidFill>
                <a:latin typeface="Helvetica Neue"/>
                <a:ea typeface="Helvetica Neue"/>
                <a:cs typeface="Helvetica Neue"/>
              </a:rPr>
              <a:t>chat.camba.tech
n8n.camba.tech
evo.camba.tech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E092BA-0432-4CCD-8FEB-4324AF7C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4953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575">
                <a:solidFill>
                  <a:srgbClr val="0867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86753"/>
                </a:solidFill>
                <a:latin typeface="Helvetica Neue"/>
                <a:ea typeface="Helvetica Neue"/>
                <a:cs typeface="Helvetica Neue"/>
              </a:rPr>
              <a:t>DigitalOcean · PostgreSQL 16 · Redis 7</a:t>
            </a:r>
          </a:p>
        </p:txBody>
      </p:sp>
      <p:sp>
        <p:nvSpPr>
          <p:cNvPr id="5" name="dns-image-frame">
            <a:extLst xmlns:a="http://schemas.openxmlformats.org/drawingml/2006/main">
              <a:ext uri="{FF2B5EF4-FFF2-40B4-BE49-F238E27FC236}">
                <a16:creationId xmlns:a16="http://schemas.microsoft.com/office/drawing/2014/main" id="{52ACF615-6FAE-4FB2-B3C9-E9415366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257300"/>
            <a:ext cx="61341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F"/>
          </a:solidFill>
          <a:ln xmlns:a="http://schemas.openxmlformats.org/drawingml/2006/main" w="9525">
            <a:solidFill>
              <a:srgbClr val="B8C0BD"/>
            </a:solidFill>
            <a:prstDash val="solid"/>
          </a:ln>
        </p:spPr>
      </p:sp>
      <p:cxnSp>
        <p:nvCxnSpPr>
          <p:cNvPr id="15" name="footer-rule-10"/>
          <p:cNvCxnSpPr/>
          <p:nvPr/>
        </p:nvCxnSpPr>
        <p:spPr>
          <a:xfrm xmlns:a="http://schemas.openxmlformats.org/drawingml/2006/main">
            <a:off x="400050" y="62865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0BD"/>
            </a:solidFill>
            <a:prstDash val="solid"/>
          </a:ln>
        </p:spPr>
      </p:cxnSp>
      <p:sp>
        <p:nvSpPr>
          <p:cNvPr id="7" name="footer-source-10">
            <a:extLst xmlns:a="http://schemas.openxmlformats.org/drawingml/2006/main">
              <a:ext uri="{FF2B5EF4-FFF2-40B4-BE49-F238E27FC236}">
                <a16:creationId xmlns:a16="http://schemas.microsoft.com/office/drawing/2014/main" id="{79C630D5-3335-4FAB-A480-1649B091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90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rPr>
              <a:t>ResearchFlow · Daniel Cueto Torrico</a:t>
            </a:r>
          </a:p>
        </p:txBody>
      </p:sp>
      <p:sp>
        <p:nvSpPr>
          <p:cNvPr id="8" name="footer-number-10">
            <a:extLst xmlns:a="http://schemas.openxmlformats.org/drawingml/2006/main">
              <a:ext uri="{FF2B5EF4-FFF2-40B4-BE49-F238E27FC236}">
                <a16:creationId xmlns:a16="http://schemas.microsoft.com/office/drawing/2014/main" id="{ADF7E669-D023-44A2-ADB5-1C3DF232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Aft>
                <a:spcPts val="0"/>
              </a:spcAft>
              <a:buNone/>
              <a:defRPr sz="105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a1f46e5a1e4f87"/>
          <a:stretch xmlns:a="http://schemas.openxmlformats.org/drawingml/2006/main"/>
        </p:blipFill>
        <p:spPr>
          <a:xfrm xmlns:a="http://schemas.openxmlformats.org/drawingml/2006/main">
            <a:off x="5657850" y="1975952"/>
            <a:ext cx="6134100" cy="30394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6814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BD18C4-1F18-4109-B314-F9B3E79E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0"/>
              </a:spcAft>
              <a:buNone/>
              <a:defRPr sz="3600">
                <a:solidFill>
                  <a:srgbClr val="101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1B20"/>
                </a:solidFill>
                <a:latin typeface="Helvetica Neue"/>
                <a:ea typeface="Helvetica Neue"/>
                <a:cs typeface="Helvetica Neue"/>
              </a:rPr>
              <a:t>El núcleo funciona; faltan dos reconexiones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FB276A-91F9-4859-A869-7C4A2B2C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1049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80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rPr>
              <a:t>La demostración central puede ejecutarse hoy. Las restricciones actuales están en canales externos, no en Gemini ni en la auditoría.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FEF197-823C-4CA0-AC73-E8C52050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495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500">
                <a:solidFill>
                  <a:srgbClr val="0867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6753"/>
                </a:solidFill>
                <a:latin typeface="Helvetica Neue"/>
                <a:ea typeface="Helvetica Neue"/>
                <a:cs typeface="Helvetica Neue"/>
              </a:rPr>
              <a:t>OPERATIVO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16FC1D-C970-4267-A0EE-5499051A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4953000" cy="2038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100">
                <a:solidFill>
                  <a:srgbClr val="101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01B20"/>
                </a:solidFill>
                <a:latin typeface="Helvetica Neue"/>
                <a:ea typeface="Helvetica Neue"/>
                <a:cs typeface="Helvetica Neue"/>
              </a:rPr>
              <a:t>✓ Chat responsive
✓ Gemini con grounding
✓ n8n y auditoría V3
✓ PostgreSQL y artefactos</a:t>
            </a:r>
          </a:p>
        </p:txBody>
      </p:sp>
      <p:sp>
        <p:nvSpPr>
          <p:cNvPr id="5" name="pending-panel">
            <a:extLst xmlns:a="http://schemas.openxmlformats.org/drawingml/2006/main">
              <a:ext uri="{FF2B5EF4-FFF2-40B4-BE49-F238E27FC236}">
                <a16:creationId xmlns:a16="http://schemas.microsoft.com/office/drawing/2014/main" id="{3DBF477A-ECA1-4C9A-A8EF-F4FEE7A0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52650"/>
            <a:ext cx="56769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F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CD7EA7-E671-4D2E-ABA8-038B2605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76500"/>
            <a:ext cx="476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500">
                <a:solidFill>
                  <a:srgbClr val="8A5B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8A5B00"/>
                </a:solidFill>
                <a:latin typeface="Helvetica Neue"/>
                <a:ea typeface="Helvetica Neue"/>
                <a:cs typeface="Helvetica Neue"/>
              </a:rPr>
              <a:t>POR CERRAR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CF2F41-B72D-494E-ACDC-53AEEEAE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05150"/>
            <a:ext cx="47625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100">
                <a:solidFill>
                  <a:srgbClr val="101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01B20"/>
                </a:solidFill>
                <a:latin typeface="Helvetica Neue"/>
                <a:ea typeface="Helvetica Neue"/>
                <a:cs typeface="Helvetica Neue"/>
              </a:rPr>
              <a:t>• Reconectar Gmail OAuth
• Vincular WhatsApp por QR
• Probar Sheets con datasets verificados</a:t>
            </a:r>
          </a:p>
        </p:txBody>
      </p:sp>
      <p:cxnSp>
        <p:nvCxnSpPr>
          <p:cNvPr id="18" name="footer-rule-11"/>
          <p:cNvCxnSpPr/>
          <p:nvPr/>
        </p:nvCxnSpPr>
        <p:spPr>
          <a:xfrm xmlns:a="http://schemas.openxmlformats.org/drawingml/2006/main">
            <a:off x="400050" y="62865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0BD"/>
            </a:solidFill>
            <a:prstDash val="solid"/>
          </a:ln>
        </p:spPr>
      </p:cxnSp>
      <p:sp>
        <p:nvSpPr>
          <p:cNvPr id="9" name="footer-source-11">
            <a:extLst xmlns:a="http://schemas.openxmlformats.org/drawingml/2006/main">
              <a:ext uri="{FF2B5EF4-FFF2-40B4-BE49-F238E27FC236}">
                <a16:creationId xmlns:a16="http://schemas.microsoft.com/office/drawing/2014/main" id="{5FEC6F71-179F-4240-A01F-C0FBF762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90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rPr>
              <a:t>ResearchFlow · Daniel Cueto Torrico</a:t>
            </a:r>
          </a:p>
        </p:txBody>
      </p:sp>
      <p:sp>
        <p:nvSpPr>
          <p:cNvPr id="10" name="footer-number-11">
            <a:extLst xmlns:a="http://schemas.openxmlformats.org/drawingml/2006/main">
              <a:ext uri="{FF2B5EF4-FFF2-40B4-BE49-F238E27FC236}">
                <a16:creationId xmlns:a16="http://schemas.microsoft.com/office/drawing/2014/main" id="{799D2A44-E324-4AC8-B148-6785569F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Aft>
                <a:spcPts val="0"/>
              </a:spcAft>
              <a:buNone/>
              <a:defRPr sz="105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16066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65531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14260A-F7EC-4094-B223-D2474163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00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867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6753"/>
                </a:solidFill>
                <a:latin typeface="Helvetica Neue"/>
                <a:ea typeface="Helvetica Neue"/>
                <a:cs typeface="Helvetica Neue"/>
              </a:rPr>
              <a:t>DEMO EN VIVO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E5F6D1-B770-4157-93EE-2E3095AF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00965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4350">
                <a:solidFill>
                  <a:srgbClr val="101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01B20"/>
                </a:solidFill>
                <a:latin typeface="Helvetica Neue"/>
                <a:ea typeface="Helvetica Neue"/>
                <a:cs typeface="Helvetica Neue"/>
              </a:rPr>
              <a:t>Tres pasos para demostrar ResearchFlow</a:t>
            </a:r>
          </a:p>
        </p:txBody>
      </p:sp>
      <p:sp>
        <p:nvSpPr>
          <p:cNvPr id="3" name="demo-number-0">
            <a:extLst xmlns:a="http://schemas.openxmlformats.org/drawingml/2006/main">
              <a:ext uri="{FF2B5EF4-FFF2-40B4-BE49-F238E27FC236}">
                <a16:creationId xmlns:a16="http://schemas.microsoft.com/office/drawing/2014/main" id="{C4751477-F713-4D84-A960-4A996D4B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7810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3900">
                <a:solidFill>
                  <a:srgbClr val="1DD6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DD66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4" name="demo-verb-0">
            <a:extLst xmlns:a="http://schemas.openxmlformats.org/drawingml/2006/main">
              <a:ext uri="{FF2B5EF4-FFF2-40B4-BE49-F238E27FC236}">
                <a16:creationId xmlns:a16="http://schemas.microsoft.com/office/drawing/2014/main" id="{28DE5A5F-EA82-430F-A94E-456BD9F5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09900"/>
            <a:ext cx="2190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50">
                <a:solidFill>
                  <a:srgbClr val="101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B20"/>
                </a:solidFill>
                <a:latin typeface="Helvetica Neue"/>
                <a:ea typeface="Helvetica Neue"/>
                <a:cs typeface="Helvetica Neue"/>
              </a:rPr>
              <a:t>Abrir</a:t>
            </a:r>
          </a:p>
        </p:txBody>
      </p:sp>
      <p:sp>
        <p:nvSpPr>
          <p:cNvPr id="5" name="demo-body-0">
            <a:extLst xmlns:a="http://schemas.openxmlformats.org/drawingml/2006/main">
              <a:ext uri="{FF2B5EF4-FFF2-40B4-BE49-F238E27FC236}">
                <a16:creationId xmlns:a16="http://schemas.microsoft.com/office/drawing/2014/main" id="{F8831D1C-9099-4F03-AFE9-1EA646A5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86150"/>
            <a:ext cx="2381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025">
                <a:solidFill>
                  <a:srgbClr val="101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01B20"/>
                </a:solidFill>
                <a:latin typeface="Helvetica Neue"/>
                <a:ea typeface="Helvetica Neue"/>
                <a:cs typeface="Helvetica Neue"/>
              </a:rPr>
              <a:t>chat.camba.tech</a:t>
            </a:r>
          </a:p>
        </p:txBody>
      </p:sp>
      <p:sp>
        <p:nvSpPr>
          <p:cNvPr id="6" name="demo-number-1">
            <a:extLst xmlns:a="http://schemas.openxmlformats.org/drawingml/2006/main">
              <a:ext uri="{FF2B5EF4-FFF2-40B4-BE49-F238E27FC236}">
                <a16:creationId xmlns:a16="http://schemas.microsoft.com/office/drawing/2014/main" id="{EAAF84AC-56DB-4FA2-8144-FF484362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952750"/>
            <a:ext cx="7810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3900">
                <a:solidFill>
                  <a:srgbClr val="1DD6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DD66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7" name="demo-verb-1">
            <a:extLst xmlns:a="http://schemas.openxmlformats.org/drawingml/2006/main">
              <a:ext uri="{FF2B5EF4-FFF2-40B4-BE49-F238E27FC236}">
                <a16:creationId xmlns:a16="http://schemas.microsoft.com/office/drawing/2014/main" id="{45803545-ACC2-406E-8ACD-2CF3EDDB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09900"/>
            <a:ext cx="2190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50">
                <a:solidFill>
                  <a:srgbClr val="101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B20"/>
                </a:solidFill>
                <a:latin typeface="Helvetica Neue"/>
                <a:ea typeface="Helvetica Neue"/>
                <a:cs typeface="Helvetica Neue"/>
              </a:rPr>
              <a:t>Proponer</a:t>
            </a:r>
          </a:p>
        </p:txBody>
      </p:sp>
      <p:sp>
        <p:nvSpPr>
          <p:cNvPr id="8" name="demo-body-1">
            <a:extLst xmlns:a="http://schemas.openxmlformats.org/drawingml/2006/main">
              <a:ext uri="{FF2B5EF4-FFF2-40B4-BE49-F238E27FC236}">
                <a16:creationId xmlns:a16="http://schemas.microsoft.com/office/drawing/2014/main" id="{71C22ED4-C404-4B67-9B5D-54E83C9E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486150"/>
            <a:ext cx="2381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025">
                <a:solidFill>
                  <a:srgbClr val="101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01B20"/>
                </a:solidFill>
                <a:latin typeface="Helvetica Neue"/>
                <a:ea typeface="Helvetica Neue"/>
                <a:cs typeface="Helvetica Neue"/>
              </a:rPr>
              <a:t>una idea real</a:t>
            </a:r>
          </a:p>
        </p:txBody>
      </p:sp>
      <p:sp>
        <p:nvSpPr>
          <p:cNvPr id="9" name="demo-number-2">
            <a:extLst xmlns:a="http://schemas.openxmlformats.org/drawingml/2006/main">
              <a:ext uri="{FF2B5EF4-FFF2-40B4-BE49-F238E27FC236}">
                <a16:creationId xmlns:a16="http://schemas.microsoft.com/office/drawing/2014/main" id="{486B7F43-FAC2-43B4-A232-C1855A29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7810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3900">
                <a:solidFill>
                  <a:srgbClr val="1DD6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DD66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0" name="demo-verb-2">
            <a:extLst xmlns:a="http://schemas.openxmlformats.org/drawingml/2006/main">
              <a:ext uri="{FF2B5EF4-FFF2-40B4-BE49-F238E27FC236}">
                <a16:creationId xmlns:a16="http://schemas.microsoft.com/office/drawing/2014/main" id="{C703281E-7974-4F45-B51D-EF79DB99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09900"/>
            <a:ext cx="2190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50">
                <a:solidFill>
                  <a:srgbClr val="101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B20"/>
                </a:solidFill>
                <a:latin typeface="Helvetica Neue"/>
                <a:ea typeface="Helvetica Neue"/>
                <a:cs typeface="Helvetica Neue"/>
              </a:rPr>
              <a:t>Lanzar</a:t>
            </a:r>
          </a:p>
        </p:txBody>
      </p:sp>
      <p:sp>
        <p:nvSpPr>
          <p:cNvPr id="11" name="demo-body-2">
            <a:extLst xmlns:a="http://schemas.openxmlformats.org/drawingml/2006/main">
              <a:ext uri="{FF2B5EF4-FFF2-40B4-BE49-F238E27FC236}">
                <a16:creationId xmlns:a16="http://schemas.microsoft.com/office/drawing/2014/main" id="{AD527EFC-7D62-46C0-B14C-81D584A5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86150"/>
            <a:ext cx="2381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025">
                <a:solidFill>
                  <a:srgbClr val="101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01B20"/>
                </a:solidFill>
                <a:latin typeface="Helvetica Neue"/>
                <a:ea typeface="Helvetica Neue"/>
                <a:cs typeface="Helvetica Neue"/>
              </a:rPr>
              <a:t>investigar 1</a:t>
            </a:r>
          </a:p>
        </p:txBody>
      </p:sp>
      <p:sp>
        <p:nvSpPr>
          <p:cNvPr id="12" name="close-rule">
            <a:extLst xmlns:a="http://schemas.openxmlformats.org/drawingml/2006/main">
              <a:ext uri="{FF2B5EF4-FFF2-40B4-BE49-F238E27FC236}">
                <a16:creationId xmlns:a16="http://schemas.microsoft.com/office/drawing/2014/main" id="{629D19EF-33E8-4EB1-ACD7-D50939E2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11391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0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3BB7EF-24CE-4568-9539-EE14EE34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10953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325">
                <a:solidFill>
                  <a:srgbClr val="101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01B20"/>
                </a:solidFill>
                <a:latin typeface="Helvetica Neue"/>
                <a:ea typeface="Helvetica Neue"/>
                <a:cs typeface="Helvetica Neue"/>
              </a:rPr>
              <a:t>ResearchFlow demuestra que automatizar no significa perder rigor: significa hacerlo visible, repetible y auditable.</a:t>
            </a:r>
          </a:p>
        </p:txBody>
      </p:sp>
    </p:spTree>
    <p:extLst>
      <p:ext uri="{BB962C8B-B14F-4D97-AF65-F5344CB8AC3E}">
        <p14:creationId xmlns:p14="http://schemas.microsoft.com/office/powerpoint/2010/main" val="13132708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2026-07-17T00:24:28.6240000Z</dcterms:created>
  <dcterms:modified xsi:type="dcterms:W3CDTF">2026-07-17T00:24:28.6240000Z</dcterms:modified>
</coreProperties>
</file>